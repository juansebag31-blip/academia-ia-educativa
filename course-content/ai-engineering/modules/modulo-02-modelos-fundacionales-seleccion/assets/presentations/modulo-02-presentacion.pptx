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AI ENGINEERING APLICADO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325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Módulo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3"/>
                </a:solidFill>
              </a:rPr>
              <a:t>Modelos fundacionales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B1F33"/>
                </a:solidFill>
              </a:rPr>
              <a:t>y selección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21792" y="3246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A"/>
                </a:solidFill>
              </a:rPr>
              <a:t>Cómo elegir el modelo adecuado para un problema real sin confundir popularidad, tamaño o benchmarks con utilidad productiva.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105156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1737360"/>
            <a:ext cx="1463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0" y="1051560"/>
            <a:ext cx="1417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2880360"/>
            <a:ext cx="1600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297180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5120640"/>
            <a:ext cx="6492240" cy="640080"/>
          </a:xfrm>
          <a:prstGeom prst="rect">
            <a:avLst/>
          </a:prstGeom>
          <a:solidFill>
            <a:srgbClr val="EAF6F4"/>
          </a:solidFill>
          <a:ln w="12700">
            <a:solidFill>
              <a:srgbClr val="B9D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es una decisión de arquitectura, no una carrera de marcas.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1/17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que ordena la selección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elegir un modelo, define qué proceso quieres resolver y qué consecuencias tendrá el error.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1417320" cy="566928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3255264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34640" y="297180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3255264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892040" y="2971800"/>
            <a:ext cx="1417320" cy="566928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255264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49440" y="297180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3255264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006840" y="2971800"/>
            <a:ext cx="1417320" cy="566928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4800600"/>
            <a:ext cx="978408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existe un mejor modelo absoluto. Existe un modelo más adecuado para una tarea concreta.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2/17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fundacional: base amplia, producto incompleto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011680" cy="73152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Preentrenamiento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192024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uso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920240"/>
            <a:ext cx="2103120" cy="73152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producción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98280" y="192024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2286000"/>
            <a:ext cx="7315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23560" y="2286000"/>
            <a:ext cx="7315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58200" y="2286000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fundacional puede adaptarse a muchas tareas mediante instrucciones, ejemplos, RAG, herramientas o ajuste adicional.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5029200" cy="1051560"/>
          </a:xfrm>
          <a:prstGeom prst="rect">
            <a:avLst/>
          </a:prstGeom>
          <a:solidFill>
            <a:srgbClr val="EAF6F4"/>
          </a:solidFill>
          <a:ln w="12700">
            <a:solidFill>
              <a:srgbClr val="B9D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necesitando interfaz, datos del dominio, permisos, evaluación, trazabilidad y supervisión humana.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3/17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Familias y modalidades: la tarea define la entrada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2971800" cy="89611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→ texto/datos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2971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imagen, PDF, audio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83880" y="1508760"/>
            <a:ext cx="2971800" cy="89611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semántica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971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Voz/audio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transcribir o narrar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926080"/>
            <a:ext cx="2971800" cy="89611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Imagen/video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o generar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3880" y="2926080"/>
            <a:ext cx="2971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riesgo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892040"/>
            <a:ext cx="10058400" cy="5943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modalidad es una condición necesaria, no una garantía de calidad.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4/17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Propietario, open-weight y Open Source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337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propietaria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Rápida adopción. Operación administrada. Menor control técnico.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337560" cy="137160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Open-weight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disponibles. Más control. Mayor responsabilidad operativa.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83880" y="1508760"/>
            <a:ext cx="3337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 AI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Libertades de uso, estudio, modificación y distribución.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10058400" cy="777240"/>
          </a:xfrm>
          <a:prstGeom prst="rect">
            <a:avLst/>
          </a:prstGeom>
          <a:solidFill>
            <a:srgbClr val="FFF7EC"/>
          </a:solidFill>
          <a:ln w="12700">
            <a:solidFill>
              <a:srgbClr val="F0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Disponer de pesos no garantiza acceso suficiente a código, datos, proceso y libertades de modificación.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5/17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Generalista o especializado: flexibilidad vs. eficiencia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846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generalista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Tareas cambiantes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Prototipado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Conversación amplia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Razonamiento entre dominios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2240" y="1508760"/>
            <a:ext cx="4846320" cy="2377440"/>
          </a:xfrm>
          <a:prstGeom prst="rect">
            <a:avLst/>
          </a:prstGeom>
          <a:solidFill>
            <a:srgbClr val="EFF9F7"/>
          </a:solidFill>
          <a:ln w="12700">
            <a:solidFill>
              <a:srgbClr val="B9D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especializado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Tarea estrecha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Alto volumen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Menor latencia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Mejor coste por tarea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4892040"/>
            <a:ext cx="97840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más pequeño puede ser mejor si supera la evaluación requerida.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6/17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Capacidad, razonamiento y coste de inferencia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920240"/>
            <a:ext cx="1828800" cy="658368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192024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8040" y="1920240"/>
            <a:ext cx="1828800" cy="658368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81160" y="192024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crítica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249424"/>
            <a:ext cx="2743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2249424"/>
            <a:ext cx="2743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03720" y="2249424"/>
            <a:ext cx="2743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2249424"/>
            <a:ext cx="2743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680" y="388620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grande no es una especificación de producto. La capacidad debe asignarse donde reduce errores reales.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3886200"/>
            <a:ext cx="4937760" cy="1005840"/>
          </a:xfrm>
          <a:prstGeom prst="rect">
            <a:avLst/>
          </a:prstGeom>
          <a:solidFill>
            <a:srgbClr val="FFF7EC"/>
          </a:solidFill>
          <a:ln w="12700">
            <a:solidFill>
              <a:srgbClr val="F0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de razonamiento pueden mejorar tareas difíciles, pero aumentan latencia y coste.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7/17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window: más tokens no significa mejor respuesta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 de contexto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 máximo de tokens para instrucciones, historial, documentos, herramientas y salida.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417320"/>
            <a:ext cx="2743200" cy="1965960"/>
          </a:xfrm>
          <a:prstGeom prst="rect">
            <a:avLst/>
          </a:prstGeom>
          <a:solidFill>
            <a:srgbClr val="FFF2F2"/>
          </a:solidFill>
          <a:ln w="12700">
            <a:solidFill>
              <a:srgbClr val="F0B2B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7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de enviar demasiado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coste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latencia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ruido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contradicciones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menor trazabilidad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0" y="1417320"/>
            <a:ext cx="2834640" cy="1965960"/>
          </a:xfrm>
          <a:prstGeom prst="rect">
            <a:avLst/>
          </a:prstGeom>
          <a:solidFill>
            <a:srgbClr val="EFF9F7"/>
          </a:solidFill>
          <a:ln w="12700">
            <a:solidFill>
              <a:srgbClr val="B9D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engineering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y organizar solo la evidencia relevante para cada paso.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4800600"/>
            <a:ext cx="9509760" cy="65836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repositorio, Git y los manifiestos son memoria externa más confiable que una conversación interminable.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8/17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Latencia, coste, disponibilidad y versiones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331720" cy="91440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P50, P95 y workflow total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11880" y="16002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tarea exitosa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2331720" cy="91440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cuotas, regiones y fallback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89720" y="16002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estable, preview, latest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 total = tokens + reintentos + herramientas + supervisión + errores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3611880"/>
            <a:ext cx="4937760" cy="914400"/>
          </a:xfrm>
          <a:prstGeom prst="rect">
            <a:avLst/>
          </a:prstGeom>
          <a:solidFill>
            <a:srgbClr val="FFF7EC"/>
          </a:solidFill>
          <a:ln w="12700">
            <a:solidFill>
              <a:srgbClr val="F0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alias “latest” sin evaluación puede cambiar el producto aunque el código no cambie.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9/17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Benchmarks: candidatos; evaluación propia: decisión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389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 modelos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condiciones estándar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útil para explorar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conoce tu producto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49440" y="1600200"/>
            <a:ext cx="4389120" cy="2377440"/>
          </a:xfrm>
          <a:prstGeom prst="rect">
            <a:avLst/>
          </a:prstGeom>
          <a:solidFill>
            <a:srgbClr val="EFF9F7"/>
          </a:solidFill>
          <a:ln w="12700">
            <a:solidFill>
              <a:srgbClr val="B9D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propia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casos reales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errores críticos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coste y latencia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criterios de aceptación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40680" y="2697480"/>
            <a:ext cx="11887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463040" y="4892040"/>
            <a:ext cx="923544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benchmark sugiere. La evaluación propia decide.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10/17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Privacidad y control: minimizar antes de enviar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3063240" cy="68580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se procesan?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063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se retienen?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66760" y="1463040"/>
            <a:ext cx="3063240" cy="68580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usan para entrenar?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región privada?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063240" cy="68580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subprocesadores?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6760" y="2606040"/>
            <a:ext cx="3063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audita acceso?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10241280" cy="7315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privacidad no se resuelve solo cambiando de proveedor. También se diseña con minimización, permisos, anonimización y trazabilidad.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11/17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routing: no todo debe ir al modelo más capaz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828800"/>
            <a:ext cx="1600200" cy="68580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9160" y="1828800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avanzado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1600200" cy="68580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9640" y="1828800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167128"/>
            <a:ext cx="320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2167128"/>
            <a:ext cx="320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167128"/>
            <a:ext cx="320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2167128"/>
            <a:ext cx="320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10058400" cy="640080"/>
          </a:xfrm>
          <a:prstGeom prst="rect">
            <a:avLst/>
          </a:prstGeom>
          <a:solidFill>
            <a:srgbClr val="EAF6F4"/>
          </a:solidFill>
          <a:ln w="12700">
            <a:solidFill>
              <a:srgbClr val="B9D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Criterios: tarea · complejidad · modalidad · sensibilidad · coste · disponibilidad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12/17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profesional de selección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3063240" cy="80467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20–30%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150876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0" y="1508760"/>
            <a:ext cx="3063240" cy="80467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743200"/>
            <a:ext cx="3063240" cy="80467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Privacidad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obligatorio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4800600"/>
            <a:ext cx="1014984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matriz registra la decisión: versión, casos, prompts, límites, riesgos y fecha de reevaluación.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13/17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aplicado: asistente documental en imágenes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1508760" cy="64008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219456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68880" y="187452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interpreta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219456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43400" y="1874520"/>
            <a:ext cx="1508760" cy="64008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recupera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219456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calculan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26680" y="219456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92440" y="1874520"/>
            <a:ext cx="1508760" cy="640080"/>
          </a:xfrm>
          <a:prstGeom prst="rect">
            <a:avLst/>
          </a:prstGeom>
          <a:solidFill>
            <a:srgbClr val="EFF9F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controla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0" y="219456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966960" y="187452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Humano confirma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4480560"/>
            <a:ext cx="9966960" cy="7315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 no es entregar todo al modelo. Es combinar modelos, recuperación, reglas y supervisión.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14/17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JSG AI Engineering Hub v0.2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3063240" cy="80467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rápido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y extraer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150876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avanzado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y sintetizar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0" y="1508760"/>
            <a:ext cx="3063240" cy="80467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 documentos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 y PDFs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063240" cy="80467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privada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sensibles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892040"/>
            <a:ext cx="996696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profesional puede usar varios modelos sin convertirse automáticamente en multiagente.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15/17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Actividad: documento de decisión de modelo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983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Define la tarea y los errores críticos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983480" cy="731520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Descompón capacidades: clasificación, RAG, razonamiento, cálculo, acción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983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Compara arquitectura simple y arquitectura optimizada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4983480" cy="621792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Construye una matriz y documenta la decisión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645920"/>
            <a:ext cx="4800600" cy="20574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página con tarea, restricciones, candidatos, criterios, decisión provisional, riesgos, fallback y fecha de reevaluación.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16/17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· MODELOS FUNDACIONALES Y SELECCIÓN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Módulo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8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El modelo es una capacidad, no el producto.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603504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No existe un mejor modelo absoluto.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El benchmark propone; la evaluación decide.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5029200" cy="603504"/>
          </a:xfrm>
          <a:prstGeom prst="rect">
            <a:avLst/>
          </a:prstGeom>
          <a:solidFill>
            <a:srgbClr val="EFF9F7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El coste relevante es el coste por tarea exitosa.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El routing combina modelos, reglas y supervisión cuando aporta valor.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4480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Stanford CRFM · OpenAI · Anthropic · Google AI · OSI · HELM · NIST · Hugging Face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840480"/>
            <a:ext cx="448056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módulo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estado y memoria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552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87B"/>
                </a:solidFill>
              </a:rPr>
              <a:t>AI Engineering Aplicado · 17/17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JSG AI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fundacionales y selección</dc:title>
  <dc:subject>AI Engineering Aplicado - Módulo 2</dc:subject>
  <dc:creator>JSG AI Engineering</dc:creator>
  <cp:lastModifiedBy>JSG AI Engineering</cp:lastModifiedBy>
  <cp:revision>1</cp:revision>
  <dcterms:created xsi:type="dcterms:W3CDTF">2026-07-16T22:42:29Z</dcterms:created>
  <dcterms:modified xsi:type="dcterms:W3CDTF">2026-07-16T22:42:29Z</dcterms:modified>
</cp:coreProperties>
</file>